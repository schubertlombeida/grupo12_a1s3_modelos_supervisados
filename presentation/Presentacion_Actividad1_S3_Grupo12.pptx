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291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el objetivo del taller, el dataset validado por la docente y la comparación de modelos de clasificación y regresión.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cómo navegar: puede usarse de forma lineal o saltando a secciones.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dominio del dataset y aclarar que se trabajaron dos problemas supervisados: clasificación y regresión.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el desbalance y por qué la rúbrica exige varias métricas. Mencionar que la matriz de correlación ayuda a detectar variables muy relacionadas.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el preprocesamiento es obligatorio antes de SVM y por qué se debe controlar la fuga de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la rúbrica exige específicamente SVM y Árbol de Decisión; los demás modelos se agregan para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tabla de métricas. Señalar que Decision Tree, Random Forest y SVM tienen F1 muy similar, pero SVM tiene mejor AUC-ROC.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agrega valor: reconoce la limitación de los modelos por el desbalance de clases y propone mejoras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RMSE está en dólares y R² representa proporción de variabilidad explicada.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la documentación clara aporta 15% de la calificación y que GitHub debe ser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fortalezas, limitaciones y próximos pasos. Esta sección responde directamente al 10% de reflexión técnica de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Espacio para preguntas. Usar botones si se requiere volver a resultados o conclusiones durante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4.png"/><Relationship Id="rId7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4.png"/><Relationship Id="rId7" Type="http://schemas.openxmlformats.org/officeDocument/2006/relationships/slide" Target="slide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ver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621792"/>
            <a:ext cx="82296" cy="5394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960120"/>
            <a:ext cx="67665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supervisados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aplicados al dataset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salarios Cervecería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841248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· Regresión · Comparación experimental · GitHub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1248" y="3035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B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Cervecería Nacional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41248" y="3511296"/>
            <a:ext cx="184708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7B733"/>
            </a:solidFill>
            <a:prstDash val="solid"/>
          </a:ln>
        </p:spPr>
      </p:sp>
      <p:pic>
        <p:nvPicPr>
          <p:cNvPr id="8" name="Image 1" descr="/mnt/data/image2_alph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491" y="3611880"/>
            <a:ext cx="1103458" cy="868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99248" y="329184"/>
            <a:ext cx="4069080" cy="3182112"/>
          </a:xfrm>
          <a:prstGeom prst="roundRect">
            <a:avLst>
              <a:gd name="adj" fmla="val 5172"/>
            </a:avLst>
          </a:prstGeom>
          <a:solidFill>
            <a:srgbClr val="020913">
              <a:alpha val="80000"/>
            </a:srgbClr>
          </a:solidFill>
          <a:ln w="12700">
            <a:solidFill>
              <a:srgbClr val="F7B733"/>
            </a:solidFill>
            <a:prstDash val="solid"/>
          </a:ln>
        </p:spPr>
      </p:sp>
      <p:pic>
        <p:nvPicPr>
          <p:cNvPr id="10" name="Image 2" descr="/mnt/data/image3_alpha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612795"/>
            <a:ext cx="2331720" cy="8683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18704" y="16276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Profesor:  Gladys María Villegas Rugel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Materia:   Aprendizaje Automático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Alumnos: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796528" y="2295144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Schubert Stalin Lombeida Manjarrez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José Luis Peñafiel Fernández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Juan Carlos Bajaña Gutiérrez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Niko Dimitri Jiménez Bruno</a:t>
            </a:r>
            <a:endParaRPr lang="en-US" sz="1230" dirty="0"/>
          </a:p>
        </p:txBody>
      </p:sp>
      <p:sp>
        <p:nvSpPr>
          <p:cNvPr id="13" name="Shape 8">
            <a:hlinkClick r:id="rId6" action="ppaction://hlinksldjump"/>
          </p:cNvPr>
          <p:cNvSpPr/>
          <p:nvPr/>
        </p:nvSpPr>
        <p:spPr>
          <a:xfrm>
            <a:off x="841248" y="5596128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020913">
              <a:alpha val="88000"/>
            </a:srgbClr>
          </a:solidFill>
          <a:ln w="15240">
            <a:solidFill>
              <a:srgbClr val="00C2FF">
                <a:alpha val="90000"/>
              </a:srgbClr>
            </a:solidFill>
            <a:prstDash val="solid"/>
          </a:ln>
        </p:spPr>
      </p:sp>
      <p:sp>
        <p:nvSpPr>
          <p:cNvPr id="14" name="Text 9">
            <a:hlinkClick r:id="rId6" action="ppaction://hlinksldjump"/>
          </p:cNvPr>
          <p:cNvSpPr/>
          <p:nvPr/>
        </p:nvSpPr>
        <p:spPr>
          <a:xfrm>
            <a:off x="932688" y="5669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Iniciar presentación →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502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interactiva de la presentación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21792" y="10241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Seleccione una sección o avance linealmente. Cada diapositiva incluye regreso al índice.</a:t>
            </a:r>
            <a:endParaRPr lang="en-US" sz="13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731520" y="16002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06192F">
              <a:alpha val="92000"/>
            </a:srgbClr>
          </a:solidFill>
          <a:ln w="13970">
            <a:solidFill>
              <a:srgbClr val="00C2FF">
                <a:alpha val="85000"/>
              </a:srgbClr>
            </a:solidFill>
            <a:prstDash val="solid"/>
          </a:ln>
        </p:spPr>
      </p:sp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960120" y="17647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· Problema y dataset</a:t>
            </a:r>
            <a:endParaRPr lang="en-US" sz="1400" dirty="0"/>
          </a:p>
        </p:txBody>
      </p:sp>
      <p:sp>
        <p:nvSpPr>
          <p:cNvPr id="7" name="Text 4">
            <a:hlinkClick r:id="rId4" action="ppaction://hlinksldjump"/>
          </p:cNvPr>
          <p:cNvSpPr/>
          <p:nvPr/>
        </p:nvSpPr>
        <p:spPr>
          <a:xfrm>
            <a:off x="960120" y="20756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u="sng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Contexto, objetivo de clasificación y regresión</a:t>
            </a:r>
            <a:endParaRPr lang="en-US" sz="950" dirty="0"/>
          </a:p>
        </p:txBody>
      </p:sp>
      <p:sp>
        <p:nvSpPr>
          <p:cNvPr id="8" name="Shape 5">
            <a:hlinkClick r:id="rId5" action="ppaction://hlinksldjump"/>
          </p:cNvPr>
          <p:cNvSpPr/>
          <p:nvPr/>
        </p:nvSpPr>
        <p:spPr>
          <a:xfrm>
            <a:off x="731520" y="283464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06192F">
              <a:alpha val="92000"/>
            </a:srgbClr>
          </a:solidFill>
          <a:ln w="13970">
            <a:solidFill>
              <a:srgbClr val="F7B733">
                <a:alpha val="85000"/>
              </a:srgbClr>
            </a:solidFill>
            <a:prstDash val="solid"/>
          </a:ln>
        </p:spPr>
      </p:sp>
      <p:sp>
        <p:nvSpPr>
          <p:cNvPr id="9" name="Text 6">
            <a:hlinkClick r:id="rId5" action="ppaction://hlinksldjump"/>
          </p:cNvPr>
          <p:cNvSpPr/>
          <p:nvPr/>
        </p:nvSpPr>
        <p:spPr>
          <a:xfrm>
            <a:off x="960120" y="29992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· EDA</a:t>
            </a:r>
            <a:endParaRPr lang="en-US" sz="1400" dirty="0"/>
          </a:p>
        </p:txBody>
      </p:sp>
      <p:sp>
        <p:nvSpPr>
          <p:cNvPr id="10" name="Text 7">
            <a:hlinkClick r:id="rId5" action="ppaction://hlinksldjump"/>
          </p:cNvPr>
          <p:cNvSpPr/>
          <p:nvPr/>
        </p:nvSpPr>
        <p:spPr>
          <a:xfrm>
            <a:off x="960120" y="33101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u="sng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Patrones, correlaciones y desbalance de clases</a:t>
            </a:r>
            <a:endParaRPr lang="en-US" sz="950" dirty="0"/>
          </a:p>
        </p:txBody>
      </p:sp>
      <p:sp>
        <p:nvSpPr>
          <p:cNvPr id="11" name="Shape 8">
            <a:hlinkClick r:id="rId6" action="ppaction://hlinksldjump"/>
          </p:cNvPr>
          <p:cNvSpPr/>
          <p:nvPr/>
        </p:nvSpPr>
        <p:spPr>
          <a:xfrm>
            <a:off x="731520" y="406908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06192F">
              <a:alpha val="92000"/>
            </a:srgbClr>
          </a:solidFill>
          <a:ln w="13970">
            <a:solidFill>
              <a:srgbClr val="20C997">
                <a:alpha val="85000"/>
              </a:srgbClr>
            </a:solidFill>
            <a:prstDash val="solid"/>
          </a:ln>
        </p:spPr>
      </p:sp>
      <p:sp>
        <p:nvSpPr>
          <p:cNvPr id="12" name="Text 9">
            <a:hlinkClick r:id="rId6" action="ppaction://hlinksldjump"/>
          </p:cNvPr>
          <p:cNvSpPr/>
          <p:nvPr/>
        </p:nvSpPr>
        <p:spPr>
          <a:xfrm>
            <a:off x="960120" y="42336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· Preprocesamiento</a:t>
            </a:r>
            <a:endParaRPr lang="en-US" sz="1400" dirty="0"/>
          </a:p>
        </p:txBody>
      </p:sp>
      <p:sp>
        <p:nvSpPr>
          <p:cNvPr id="13" name="Text 10">
            <a:hlinkClick r:id="rId6" action="ppaction://hlinksldjump"/>
          </p:cNvPr>
          <p:cNvSpPr/>
          <p:nvPr/>
        </p:nvSpPr>
        <p:spPr>
          <a:xfrm>
            <a:off x="960120" y="45445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u="sng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Pipeline reproducible y control de fuga de información</a:t>
            </a:r>
            <a:endParaRPr lang="en-US" sz="950" dirty="0"/>
          </a:p>
        </p:txBody>
      </p:sp>
      <p:sp>
        <p:nvSpPr>
          <p:cNvPr id="14" name="Shape 11">
            <a:hlinkClick r:id="rId7" action="ppaction://hlinksldjump"/>
          </p:cNvPr>
          <p:cNvSpPr/>
          <p:nvPr/>
        </p:nvSpPr>
        <p:spPr>
          <a:xfrm>
            <a:off x="6400800" y="16002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06192F">
              <a:alpha val="92000"/>
            </a:srgbClr>
          </a:solidFill>
          <a:ln w="1397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15" name="Text 12">
            <a:hlinkClick r:id="rId7" action="ppaction://hlinksldjump"/>
          </p:cNvPr>
          <p:cNvSpPr/>
          <p:nvPr/>
        </p:nvSpPr>
        <p:spPr>
          <a:xfrm>
            <a:off x="6629400" y="17647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· Modelos</a:t>
            </a:r>
            <a:endParaRPr lang="en-US" sz="1400" dirty="0"/>
          </a:p>
        </p:txBody>
      </p:sp>
      <p:sp>
        <p:nvSpPr>
          <p:cNvPr id="16" name="Text 13">
            <a:hlinkClick r:id="rId7" action="ppaction://hlinksldjump"/>
          </p:cNvPr>
          <p:cNvSpPr/>
          <p:nvPr/>
        </p:nvSpPr>
        <p:spPr>
          <a:xfrm>
            <a:off x="6629400" y="20756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u="sng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SVM, Árbol de Decisión y modelos comparativos</a:t>
            </a:r>
            <a:endParaRPr lang="en-US" sz="950" dirty="0"/>
          </a:p>
        </p:txBody>
      </p:sp>
      <p:sp>
        <p:nvSpPr>
          <p:cNvPr id="17" name="Shape 14">
            <a:hlinkClick r:id="rId8" action="ppaction://hlinksldjump"/>
          </p:cNvPr>
          <p:cNvSpPr/>
          <p:nvPr/>
        </p:nvSpPr>
        <p:spPr>
          <a:xfrm>
            <a:off x="6400800" y="283464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06192F">
              <a:alpha val="92000"/>
            </a:srgbClr>
          </a:solidFill>
          <a:ln w="13970">
            <a:solidFill>
              <a:srgbClr val="00C2FF">
                <a:alpha val="85000"/>
              </a:srgbClr>
            </a:solidFill>
            <a:prstDash val="solid"/>
          </a:ln>
        </p:spPr>
      </p:sp>
      <p:sp>
        <p:nvSpPr>
          <p:cNvPr id="18" name="Text 15">
            <a:hlinkClick r:id="rId8" action="ppaction://hlinksldjump"/>
          </p:cNvPr>
          <p:cNvSpPr/>
          <p:nvPr/>
        </p:nvSpPr>
        <p:spPr>
          <a:xfrm>
            <a:off x="6629400" y="29992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· Resultados</a:t>
            </a:r>
            <a:endParaRPr lang="en-US" sz="1400" dirty="0"/>
          </a:p>
        </p:txBody>
      </p:sp>
      <p:sp>
        <p:nvSpPr>
          <p:cNvPr id="19" name="Text 16">
            <a:hlinkClick r:id="rId8" action="ppaction://hlinksldjump"/>
          </p:cNvPr>
          <p:cNvSpPr/>
          <p:nvPr/>
        </p:nvSpPr>
        <p:spPr>
          <a:xfrm>
            <a:off x="6629400" y="33101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u="sng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Métricas, matriz de confusión y regresión</a:t>
            </a:r>
            <a:endParaRPr lang="en-US" sz="950" dirty="0"/>
          </a:p>
        </p:txBody>
      </p:sp>
      <p:sp>
        <p:nvSpPr>
          <p:cNvPr id="20" name="Shape 17">
            <a:hlinkClick r:id="rId9" action="ppaction://hlinksldjump"/>
          </p:cNvPr>
          <p:cNvSpPr/>
          <p:nvPr/>
        </p:nvSpPr>
        <p:spPr>
          <a:xfrm>
            <a:off x="6400800" y="406908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06192F">
              <a:alpha val="92000"/>
            </a:srgbClr>
          </a:solidFill>
          <a:ln w="13970">
            <a:solidFill>
              <a:srgbClr val="F7B733">
                <a:alpha val="85000"/>
              </a:srgbClr>
            </a:solidFill>
            <a:prstDash val="solid"/>
          </a:ln>
        </p:spPr>
      </p:sp>
      <p:sp>
        <p:nvSpPr>
          <p:cNvPr id="21" name="Text 18">
            <a:hlinkClick r:id="rId9" action="ppaction://hlinksldjump"/>
          </p:cNvPr>
          <p:cNvSpPr/>
          <p:nvPr/>
        </p:nvSpPr>
        <p:spPr>
          <a:xfrm>
            <a:off x="6629400" y="42336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 · Conclusiones</a:t>
            </a:r>
            <a:endParaRPr lang="en-US" sz="1400" dirty="0"/>
          </a:p>
        </p:txBody>
      </p:sp>
      <p:sp>
        <p:nvSpPr>
          <p:cNvPr id="22" name="Text 19">
            <a:hlinkClick r:id="rId9" action="ppaction://hlinksldjump"/>
          </p:cNvPr>
          <p:cNvSpPr/>
          <p:nvPr/>
        </p:nvSpPr>
        <p:spPr>
          <a:xfrm>
            <a:off x="6629400" y="45445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u="sng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Hallazgos, limitaciones y mejoras técnicas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1520" y="5870448"/>
            <a:ext cx="10698480" cy="0"/>
          </a:xfrm>
          <a:prstGeom prst="line">
            <a:avLst/>
          </a:prstGeom>
          <a:noFill/>
          <a:ln w="12700">
            <a:solidFill>
              <a:srgbClr val="00C2FF">
                <a:alpha val="5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60076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tipo dashboard ejecutivo: visual, resumido y preparado para exposición de 5–10 minutos.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PLANTEAMIENTO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validado por la docente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C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40.544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772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analizados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61488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7B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761488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originales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90288" y="100584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C9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2021–2025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622292" y="1485561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período de análisis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49440" y="1005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80/20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94944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 / prueba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52560" y="1005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98,08%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9052560" y="1463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empleados con overtime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77240" y="214884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6968" y="2258568"/>
            <a:ext cx="45720" cy="87782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272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clasificación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33272" y="2651760"/>
            <a:ext cx="4480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Predecir TieneOvertime, variable binaria derivada de HorasExtra: 0 = Sin overtime, 1 = Con overtime.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0" y="214884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53328" y="2258568"/>
            <a:ext cx="45720" cy="87782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9632" y="22951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regresión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199632" y="2651760"/>
            <a:ext cx="4526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Estimar SalarioTotal como variable continua a partir de variables laborales, contractuales y salariales.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77240" y="361188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20C997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6968" y="3721608"/>
            <a:ext cx="45720" cy="119786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3272" y="37581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del dataset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33272" y="4114800"/>
            <a:ext cx="4480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Departamento, Cargo, Oficina, Año, TipoContrato, SalarioBase, HorasExtra, OtrosPagos, Beneficios, SalarioTotal y SalarioTotalConBeneficios.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943600" y="361188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3328" y="3721608"/>
            <a:ext cx="45720" cy="1197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99632" y="37581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empresarial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199632" y="4114800"/>
            <a:ext cx="4526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enfoque apoya la planificación del talento humano, la gestión de carga laboral y la estimación de costos salariales.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3/12</a:t>
            </a:r>
            <a:endParaRPr lang="en-US" sz="750" dirty="0"/>
          </a:p>
        </p:txBody>
      </p:sp>
      <p:sp>
        <p:nvSpPr>
          <p:cNvPr id="37" name="Text 34">
            <a:hlinkClick r:id="rId4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EDA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exploratorio de datos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salariales y desbalance de clases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58368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Hallazgo principal: la variable objetivo TieneOvertime está fuertemente desbalanceada.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1417320"/>
            <a:ext cx="3017520" cy="2011680"/>
          </a:xfrm>
          <a:prstGeom prst="roundRect">
            <a:avLst>
              <a:gd name="adj" fmla="val 5455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Distribución de clases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96112" y="2121408"/>
            <a:ext cx="2331720" cy="3200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0797" y="2121408"/>
            <a:ext cx="2287035" cy="32004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606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overtime: 777  ·  1,92%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96112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overtime: 39.767  ·  98,08%</a:t>
            </a:r>
            <a:endParaRPr lang="en-US" sz="950" dirty="0"/>
          </a:p>
        </p:txBody>
      </p:sp>
      <p:pic>
        <p:nvPicPr>
          <p:cNvPr id="15" name="Image 1" descr="/mnt/data/final_docx_unzip/word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1298448"/>
            <a:ext cx="2987040" cy="22402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16" name="Text 12"/>
          <p:cNvSpPr/>
          <p:nvPr/>
        </p:nvSpPr>
        <p:spPr>
          <a:xfrm>
            <a:off x="3977640" y="3602736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de correlación: relaciones fuertes entre variables salariales.</a:t>
            </a:r>
            <a:endParaRPr lang="en-US" sz="820" dirty="0"/>
          </a:p>
        </p:txBody>
      </p:sp>
      <p:pic>
        <p:nvPicPr>
          <p:cNvPr id="17" name="Image 2" descr="/mnt/data/final_docx_unzip/word/media/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332738"/>
            <a:ext cx="3474720" cy="2171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18" name="Text 13"/>
          <p:cNvSpPr/>
          <p:nvPr/>
        </p:nvSpPr>
        <p:spPr>
          <a:xfrm>
            <a:off x="7635240" y="36027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SalarioTotal tiende a ser mayor cuando existe overtime.</a:t>
            </a:r>
            <a:endParaRPr lang="en-US" sz="820" dirty="0"/>
          </a:p>
        </p:txBody>
      </p:sp>
      <p:sp>
        <p:nvSpPr>
          <p:cNvPr id="19" name="Shape 14"/>
          <p:cNvSpPr/>
          <p:nvPr/>
        </p:nvSpPr>
        <p:spPr>
          <a:xfrm>
            <a:off x="658368" y="4160520"/>
            <a:ext cx="1042416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5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270248"/>
            <a:ext cx="45720" cy="101498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" y="43068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Implicación metodológica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440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accuracy: el desbalance exige evaluar precision, recall, F1-score, AUC-ROC y matriz de confusión. Además, conviene revisar métricas macro o balanced accuracy para no ocultar el desempeño sobre la clase minoritaria.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4/12</a:t>
            </a:r>
            <a:endParaRPr lang="en-US" sz="750" dirty="0"/>
          </a:p>
        </p:txBody>
      </p:sp>
      <p:sp>
        <p:nvSpPr>
          <p:cNvPr id="26" name="Text 21">
            <a:hlinkClick r:id="rId6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PREPROCESAMIENTO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reproducible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dataset crudo a matrices de entrenamiento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1481328"/>
            <a:ext cx="1664208" cy="914400"/>
          </a:xfrm>
          <a:prstGeom prst="chevron">
            <a:avLst/>
          </a:prstGeom>
          <a:solidFill>
            <a:srgbClr val="00C2FF">
              <a:alpha val="96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y validación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95528" y="26060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del CSV, revisión de tipos, dimensión y consistencia.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2624328" y="1481328"/>
            <a:ext cx="1664208" cy="914400"/>
          </a:xfrm>
          <a:prstGeom prst="chevron">
            <a:avLst/>
          </a:prstGeom>
          <a:solidFill>
            <a:srgbClr val="F7B733">
              <a:alpha val="96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34056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81528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Nulos y tipos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42616" y="26060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 numérica e imputación por mediana.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471416" y="1481328"/>
            <a:ext cx="1664208" cy="914400"/>
          </a:xfrm>
          <a:prstGeom prst="chevron">
            <a:avLst/>
          </a:prstGeom>
          <a:solidFill>
            <a:srgbClr val="00C2FF">
              <a:alpha val="96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1144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28616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derivadas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489704" y="26060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TieneOvertime, BeneficiosRatio y LogSalarioTotal.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6318504" y="1481328"/>
            <a:ext cx="1664208" cy="914400"/>
          </a:xfrm>
          <a:prstGeom prst="chevron">
            <a:avLst/>
          </a:prstGeom>
          <a:solidFill>
            <a:srgbClr val="F7B733">
              <a:alpha val="96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775704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Codificación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36792" y="26060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Encoding aplicado a Cargo; mejora sugerida: One-Hot Encoding.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8165592" y="1481328"/>
            <a:ext cx="1664208" cy="914400"/>
          </a:xfrm>
          <a:prstGeom prst="chevron">
            <a:avLst/>
          </a:prstGeom>
          <a:solidFill>
            <a:srgbClr val="00C2FF">
              <a:alpha val="96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622792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Escalado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183880" y="26060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StandardScaler en variables sensibles a escala.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10012680" y="1481328"/>
            <a:ext cx="1664208" cy="914400"/>
          </a:xfrm>
          <a:prstGeom prst="chevron">
            <a:avLst/>
          </a:prstGeom>
          <a:solidFill>
            <a:srgbClr val="F7B733">
              <a:alpha val="96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22408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0469880" y="1600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209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 80/20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030968" y="26060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train/test para evaluación no vista.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822960" y="374904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E30613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32688" y="3858768"/>
            <a:ext cx="45720" cy="101498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78992" y="38953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de fuga de información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78992" y="4251960"/>
            <a:ext cx="4526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TieneOvertime se construye a partir de HorasExtra. Por ello, las variables que revelan directamente la respuesta deben excluirse del entrenamiento del clasificador. Esta decisión fortalece la validez experimental.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080760" y="374904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20C997">
                <a:alpha val="6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0488" y="3858768"/>
            <a:ext cx="45720" cy="101498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38953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Reproducibilidad en GitHub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336792" y="4251960"/>
            <a:ext cx="4526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 debe quedar documentado en README.md, notebook y carpeta de resultados. Esto permite ejecutar el mismo proceso y verificar las métricas reportadas.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5/12</a:t>
            </a:r>
            <a:endParaRPr lang="en-US" sz="750" dirty="0"/>
          </a:p>
        </p:txBody>
      </p:sp>
      <p:sp>
        <p:nvSpPr>
          <p:cNvPr id="43" name="Text 40">
            <a:hlinkClick r:id="rId4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MODELADO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supervisados implementados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y regresión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Clasificación: ¿el empleado registra overtime?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5528" y="1527048"/>
            <a:ext cx="45720" cy="8321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1563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Regresión Logística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1832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base interpretable para clasificación binaria; requiere escalado.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29000" y="141732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38728" y="1527048"/>
            <a:ext cx="45720" cy="83210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1563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de Decisión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85032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max_depth=6 para controlar sobreajuste; permite visualización de reglas.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141732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20C997">
                <a:alpha val="6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81928" y="1527048"/>
            <a:ext cx="45720" cy="83210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28232" y="1563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28232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Ensamble robusto de árboles; reduce varianza y aporta importancia de variables.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915400" y="141732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25128" y="1527048"/>
            <a:ext cx="45720" cy="8321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71432" y="1563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SVM RBF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71432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no lineal; C=1.0, gamma=scale; entrenado con muestra del 20%.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8580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Regresión: ¿cuál es el salario total estimado?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85800" y="3474720"/>
            <a:ext cx="4663440" cy="1188720"/>
          </a:xfrm>
          <a:prstGeom prst="roundRect">
            <a:avLst>
              <a:gd name="adj" fmla="val 923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5528" y="3584448"/>
            <a:ext cx="45720" cy="9692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1832" y="3621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evaluados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1832" y="3977640"/>
            <a:ext cx="4297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 Lineal, Ridge, Decision Tree Regressor y Random Forest Regressor.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715000" y="3474720"/>
            <a:ext cx="5623560" cy="1188720"/>
          </a:xfrm>
          <a:prstGeom prst="roundRect">
            <a:avLst>
              <a:gd name="adj" fmla="val 923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24728" y="3584448"/>
            <a:ext cx="45720" cy="96926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71032" y="362102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 técnica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971032" y="3977640"/>
            <a:ext cx="5257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modelos lineales funcionan como baseline; los árboles y ensambles capturan relaciones no lineales en variables salariales.</a:t>
            </a:r>
            <a:endParaRPr lang="en-US" sz="1050" dirty="0"/>
          </a:p>
        </p:txBody>
      </p:sp>
      <p:pic>
        <p:nvPicPr>
          <p:cNvPr id="34" name="Image 1" descr="/mnt/data/final_docx_unzip/word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397" y="4754880"/>
            <a:ext cx="3971109" cy="17373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5" name="Text 31"/>
          <p:cNvSpPr/>
          <p:nvPr/>
        </p:nvSpPr>
        <p:spPr>
          <a:xfrm>
            <a:off x="5669280" y="525780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 parcial del Árbol de Decisión: interpretación de reglas y control de profundidad.</a:t>
            </a:r>
            <a:endParaRPr lang="en-US" sz="820" dirty="0"/>
          </a:p>
        </p:txBody>
      </p:sp>
      <p:sp>
        <p:nvSpPr>
          <p:cNvPr id="36" name="Shap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6/12</a:t>
            </a:r>
            <a:endParaRPr lang="en-US" sz="750" dirty="0"/>
          </a:p>
        </p:txBody>
      </p:sp>
      <p:sp>
        <p:nvSpPr>
          <p:cNvPr id="39" name="Text 35">
            <a:hlinkClick r:id="rId5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RESULTADOS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experimental de clasificación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obligatorias de la rúbrica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58368" y="960120"/>
            <a:ext cx="2194560" cy="347472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0424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209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852928" y="960120"/>
            <a:ext cx="960120" cy="347472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98648" y="10424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09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813048" y="960120"/>
            <a:ext cx="960120" cy="347472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8768" y="10424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09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73168" y="960120"/>
            <a:ext cx="960120" cy="347472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8888" y="10424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09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733288" y="960120"/>
            <a:ext cx="731520" cy="347472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79008" y="10424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09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464808" y="960120"/>
            <a:ext cx="731520" cy="347472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10424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09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8368" y="1307592"/>
            <a:ext cx="2194560" cy="347472"/>
          </a:xfrm>
          <a:prstGeom prst="rect">
            <a:avLst/>
          </a:prstGeom>
          <a:solidFill>
            <a:srgbClr val="06192F">
              <a:alpha val="88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" y="1399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2852928" y="1307592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98648" y="1399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0.9805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3813048" y="1307592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58768" y="1399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0.9817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4773168" y="1307592"/>
            <a:ext cx="9601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18888" y="1399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0.9987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5733288" y="1307592"/>
            <a:ext cx="7315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79008" y="13990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0.9902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6464808" y="1307592"/>
            <a:ext cx="7315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10528" y="13990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0.9451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658368" y="1655064"/>
            <a:ext cx="2194560" cy="347472"/>
          </a:xfrm>
          <a:prstGeom prst="rect">
            <a:avLst/>
          </a:prstGeom>
          <a:solidFill>
            <a:srgbClr val="06192F">
              <a:alpha val="88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4088" y="17465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d=6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2852928" y="1655064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898648" y="1746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0.9809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3813048" y="1655064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1746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0.9809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4773168" y="1655064"/>
            <a:ext cx="9601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18888" y="17465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1.0000</a:t>
            </a:r>
            <a:endParaRPr lang="en-US" sz="830" dirty="0"/>
          </a:p>
        </p:txBody>
      </p:sp>
      <p:sp>
        <p:nvSpPr>
          <p:cNvPr id="40" name="Shape 37"/>
          <p:cNvSpPr/>
          <p:nvPr/>
        </p:nvSpPr>
        <p:spPr>
          <a:xfrm>
            <a:off x="5733288" y="1655064"/>
            <a:ext cx="7315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79008" y="1746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0.9904</a:t>
            </a:r>
            <a:endParaRPr lang="en-US" sz="830" dirty="0"/>
          </a:p>
        </p:txBody>
      </p:sp>
      <p:sp>
        <p:nvSpPr>
          <p:cNvPr id="42" name="Shape 39"/>
          <p:cNvSpPr/>
          <p:nvPr/>
        </p:nvSpPr>
        <p:spPr>
          <a:xfrm>
            <a:off x="6464808" y="1655064"/>
            <a:ext cx="731520" cy="347472"/>
          </a:xfrm>
          <a:prstGeom prst="rect">
            <a:avLst/>
          </a:prstGeom>
          <a:solidFill>
            <a:srgbClr val="7F1D1D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10528" y="1746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0.7952</a:t>
            </a:r>
            <a:endParaRPr lang="en-US" sz="830" dirty="0"/>
          </a:p>
        </p:txBody>
      </p:sp>
      <p:sp>
        <p:nvSpPr>
          <p:cNvPr id="44" name="Shape 41"/>
          <p:cNvSpPr/>
          <p:nvPr/>
        </p:nvSpPr>
        <p:spPr>
          <a:xfrm>
            <a:off x="658368" y="2002536"/>
            <a:ext cx="2194560" cy="347472"/>
          </a:xfrm>
          <a:prstGeom prst="rect">
            <a:avLst/>
          </a:prstGeom>
          <a:solidFill>
            <a:srgbClr val="06192F">
              <a:alpha val="88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4088" y="20939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830" dirty="0"/>
          </a:p>
        </p:txBody>
      </p:sp>
      <p:sp>
        <p:nvSpPr>
          <p:cNvPr id="46" name="Shape 43"/>
          <p:cNvSpPr/>
          <p:nvPr/>
        </p:nvSpPr>
        <p:spPr>
          <a:xfrm>
            <a:off x="2852928" y="2002536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898648" y="20939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0.9809</a:t>
            </a:r>
            <a:endParaRPr lang="en-US" sz="830" dirty="0"/>
          </a:p>
        </p:txBody>
      </p:sp>
      <p:sp>
        <p:nvSpPr>
          <p:cNvPr id="48" name="Shape 45"/>
          <p:cNvSpPr/>
          <p:nvPr/>
        </p:nvSpPr>
        <p:spPr>
          <a:xfrm>
            <a:off x="3813048" y="2002536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58768" y="20939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0.9809</a:t>
            </a:r>
            <a:endParaRPr lang="en-US" sz="830" dirty="0"/>
          </a:p>
        </p:txBody>
      </p:sp>
      <p:sp>
        <p:nvSpPr>
          <p:cNvPr id="50" name="Shape 47"/>
          <p:cNvSpPr/>
          <p:nvPr/>
        </p:nvSpPr>
        <p:spPr>
          <a:xfrm>
            <a:off x="4773168" y="2002536"/>
            <a:ext cx="9601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18888" y="20939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1.0000</a:t>
            </a:r>
            <a:endParaRPr lang="en-US" sz="830" dirty="0"/>
          </a:p>
        </p:txBody>
      </p:sp>
      <p:sp>
        <p:nvSpPr>
          <p:cNvPr id="52" name="Shape 49"/>
          <p:cNvSpPr/>
          <p:nvPr/>
        </p:nvSpPr>
        <p:spPr>
          <a:xfrm>
            <a:off x="5733288" y="2002536"/>
            <a:ext cx="7315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779008" y="20939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0.9904</a:t>
            </a:r>
            <a:endParaRPr lang="en-US" sz="830" dirty="0"/>
          </a:p>
        </p:txBody>
      </p:sp>
      <p:sp>
        <p:nvSpPr>
          <p:cNvPr id="54" name="Shape 51"/>
          <p:cNvSpPr/>
          <p:nvPr/>
        </p:nvSpPr>
        <p:spPr>
          <a:xfrm>
            <a:off x="6464808" y="2002536"/>
            <a:ext cx="7315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510528" y="20939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0.9629</a:t>
            </a:r>
            <a:endParaRPr lang="en-US" sz="830" dirty="0"/>
          </a:p>
        </p:txBody>
      </p:sp>
      <p:sp>
        <p:nvSpPr>
          <p:cNvPr id="56" name="Shape 53"/>
          <p:cNvSpPr/>
          <p:nvPr/>
        </p:nvSpPr>
        <p:spPr>
          <a:xfrm>
            <a:off x="658368" y="2350008"/>
            <a:ext cx="2194560" cy="347472"/>
          </a:xfrm>
          <a:prstGeom prst="rect">
            <a:avLst/>
          </a:prstGeom>
          <a:solidFill>
            <a:srgbClr val="06192F">
              <a:alpha val="88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4414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RBF 20%</a:t>
            </a:r>
            <a:endParaRPr lang="en-US" sz="830" dirty="0"/>
          </a:p>
        </p:txBody>
      </p:sp>
      <p:sp>
        <p:nvSpPr>
          <p:cNvPr id="58" name="Shape 55"/>
          <p:cNvSpPr/>
          <p:nvPr/>
        </p:nvSpPr>
        <p:spPr>
          <a:xfrm>
            <a:off x="2852928" y="2350008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898648" y="244144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0.9809</a:t>
            </a:r>
            <a:endParaRPr lang="en-US" sz="830" dirty="0"/>
          </a:p>
        </p:txBody>
      </p:sp>
      <p:sp>
        <p:nvSpPr>
          <p:cNvPr id="60" name="Shape 57"/>
          <p:cNvSpPr/>
          <p:nvPr/>
        </p:nvSpPr>
        <p:spPr>
          <a:xfrm>
            <a:off x="3813048" y="2350008"/>
            <a:ext cx="960120" cy="34747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858768" y="244144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0.9809</a:t>
            </a:r>
            <a:endParaRPr lang="en-US" sz="830" dirty="0"/>
          </a:p>
        </p:txBody>
      </p:sp>
      <p:sp>
        <p:nvSpPr>
          <p:cNvPr id="62" name="Shape 59"/>
          <p:cNvSpPr/>
          <p:nvPr/>
        </p:nvSpPr>
        <p:spPr>
          <a:xfrm>
            <a:off x="4773168" y="2350008"/>
            <a:ext cx="9601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818888" y="244144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1.0000</a:t>
            </a:r>
            <a:endParaRPr lang="en-US" sz="830" dirty="0"/>
          </a:p>
        </p:txBody>
      </p:sp>
      <p:sp>
        <p:nvSpPr>
          <p:cNvPr id="64" name="Shape 61"/>
          <p:cNvSpPr/>
          <p:nvPr/>
        </p:nvSpPr>
        <p:spPr>
          <a:xfrm>
            <a:off x="5733288" y="2350008"/>
            <a:ext cx="7315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779008" y="24414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0.9904</a:t>
            </a:r>
            <a:endParaRPr lang="en-US" sz="830" dirty="0"/>
          </a:p>
        </p:txBody>
      </p:sp>
      <p:sp>
        <p:nvSpPr>
          <p:cNvPr id="66" name="Shape 63"/>
          <p:cNvSpPr/>
          <p:nvPr/>
        </p:nvSpPr>
        <p:spPr>
          <a:xfrm>
            <a:off x="6464808" y="2350008"/>
            <a:ext cx="731520" cy="347472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2D4B63">
                <a:alpha val="50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510528" y="24414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0.9924</a:t>
            </a:r>
            <a:endParaRPr lang="en-US" sz="830" dirty="0"/>
          </a:p>
        </p:txBody>
      </p:sp>
      <p:sp>
        <p:nvSpPr>
          <p:cNvPr id="68" name="Text 65"/>
          <p:cNvSpPr/>
          <p:nvPr/>
        </p:nvSpPr>
        <p:spPr>
          <a:xfrm>
            <a:off x="777240" y="32461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F1-score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777240" y="3685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30" dirty="0"/>
          </a:p>
        </p:txBody>
      </p:sp>
      <p:sp>
        <p:nvSpPr>
          <p:cNvPr id="70" name="Shape 67"/>
          <p:cNvSpPr/>
          <p:nvPr/>
        </p:nvSpPr>
        <p:spPr>
          <a:xfrm>
            <a:off x="2743200" y="372160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743200" y="3721608"/>
            <a:ext cx="2399413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257800" y="3666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0.9902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777240" y="418795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d=6</a:t>
            </a:r>
            <a:endParaRPr lang="en-US" sz="930" dirty="0"/>
          </a:p>
        </p:txBody>
      </p:sp>
      <p:sp>
        <p:nvSpPr>
          <p:cNvPr id="74" name="Shape 71"/>
          <p:cNvSpPr/>
          <p:nvPr/>
        </p:nvSpPr>
        <p:spPr>
          <a:xfrm>
            <a:off x="2743200" y="422452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743200" y="4224528"/>
            <a:ext cx="2399898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257800" y="41696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0.9904</a:t>
            </a:r>
            <a:endParaRPr lang="en-US" sz="840" dirty="0"/>
          </a:p>
        </p:txBody>
      </p:sp>
      <p:sp>
        <p:nvSpPr>
          <p:cNvPr id="77" name="Text 74"/>
          <p:cNvSpPr/>
          <p:nvPr/>
        </p:nvSpPr>
        <p:spPr>
          <a:xfrm>
            <a:off x="777240" y="46908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30" dirty="0"/>
          </a:p>
        </p:txBody>
      </p:sp>
      <p:sp>
        <p:nvSpPr>
          <p:cNvPr id="78" name="Shape 75"/>
          <p:cNvSpPr/>
          <p:nvPr/>
        </p:nvSpPr>
        <p:spPr>
          <a:xfrm>
            <a:off x="2743200" y="472744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0" y="4727448"/>
            <a:ext cx="2399898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257800" y="46725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0.9904</a:t>
            </a:r>
            <a:endParaRPr lang="en-US" sz="840" dirty="0"/>
          </a:p>
        </p:txBody>
      </p:sp>
      <p:sp>
        <p:nvSpPr>
          <p:cNvPr id="81" name="Text 78"/>
          <p:cNvSpPr/>
          <p:nvPr/>
        </p:nvSpPr>
        <p:spPr>
          <a:xfrm>
            <a:off x="777240" y="51937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RBF 20%</a:t>
            </a:r>
            <a:endParaRPr lang="en-US" sz="930" dirty="0"/>
          </a:p>
        </p:txBody>
      </p:sp>
      <p:sp>
        <p:nvSpPr>
          <p:cNvPr id="82" name="Shape 79"/>
          <p:cNvSpPr/>
          <p:nvPr/>
        </p:nvSpPr>
        <p:spPr>
          <a:xfrm>
            <a:off x="2743200" y="523036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2743200" y="5230368"/>
            <a:ext cx="2399898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5257800" y="5175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0.9904</a:t>
            </a:r>
            <a:endParaRPr lang="en-US" sz="840" dirty="0"/>
          </a:p>
        </p:txBody>
      </p:sp>
      <p:sp>
        <p:nvSpPr>
          <p:cNvPr id="85" name="Text 82"/>
          <p:cNvSpPr/>
          <p:nvPr/>
        </p:nvSpPr>
        <p:spPr>
          <a:xfrm>
            <a:off x="6355080" y="32461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AUC-ROC</a:t>
            </a:r>
            <a:endParaRPr lang="en-US" sz="1400" dirty="0"/>
          </a:p>
        </p:txBody>
      </p:sp>
      <p:sp>
        <p:nvSpPr>
          <p:cNvPr id="86" name="Text 83"/>
          <p:cNvSpPr/>
          <p:nvPr/>
        </p:nvSpPr>
        <p:spPr>
          <a:xfrm>
            <a:off x="6355080" y="3685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30" dirty="0"/>
          </a:p>
        </p:txBody>
      </p:sp>
      <p:sp>
        <p:nvSpPr>
          <p:cNvPr id="87" name="Shape 84"/>
          <p:cNvSpPr/>
          <p:nvPr/>
        </p:nvSpPr>
        <p:spPr>
          <a:xfrm>
            <a:off x="8321040" y="372160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8321040" y="3721608"/>
            <a:ext cx="2290129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0835640" y="3666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0.9451</a:t>
            </a:r>
            <a:endParaRPr lang="en-US" sz="840" dirty="0"/>
          </a:p>
        </p:txBody>
      </p:sp>
      <p:sp>
        <p:nvSpPr>
          <p:cNvPr id="90" name="Text 87"/>
          <p:cNvSpPr/>
          <p:nvPr/>
        </p:nvSpPr>
        <p:spPr>
          <a:xfrm>
            <a:off x="6355080" y="418795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d=6</a:t>
            </a:r>
            <a:endParaRPr lang="en-US" sz="930" dirty="0"/>
          </a:p>
        </p:txBody>
      </p:sp>
      <p:sp>
        <p:nvSpPr>
          <p:cNvPr id="91" name="Shape 88"/>
          <p:cNvSpPr/>
          <p:nvPr/>
        </p:nvSpPr>
        <p:spPr>
          <a:xfrm>
            <a:off x="8321040" y="422452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321040" y="4224528"/>
            <a:ext cx="1926897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835640" y="41696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0.7952</a:t>
            </a:r>
            <a:endParaRPr lang="en-US" sz="840" dirty="0"/>
          </a:p>
        </p:txBody>
      </p:sp>
      <p:sp>
        <p:nvSpPr>
          <p:cNvPr id="94" name="Text 91"/>
          <p:cNvSpPr/>
          <p:nvPr/>
        </p:nvSpPr>
        <p:spPr>
          <a:xfrm>
            <a:off x="6355080" y="46908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30" dirty="0"/>
          </a:p>
        </p:txBody>
      </p:sp>
      <p:sp>
        <p:nvSpPr>
          <p:cNvPr id="95" name="Shape 92"/>
          <p:cNvSpPr/>
          <p:nvPr/>
        </p:nvSpPr>
        <p:spPr>
          <a:xfrm>
            <a:off x="8321040" y="472744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321040" y="4727448"/>
            <a:ext cx="2333261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835640" y="46725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0.9629</a:t>
            </a:r>
            <a:endParaRPr lang="en-US" sz="840" dirty="0"/>
          </a:p>
        </p:txBody>
      </p:sp>
      <p:sp>
        <p:nvSpPr>
          <p:cNvPr id="98" name="Text 95"/>
          <p:cNvSpPr/>
          <p:nvPr/>
        </p:nvSpPr>
        <p:spPr>
          <a:xfrm>
            <a:off x="6355080" y="51937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RBF 20%</a:t>
            </a:r>
            <a:endParaRPr lang="en-US" sz="930" dirty="0"/>
          </a:p>
        </p:txBody>
      </p:sp>
      <p:sp>
        <p:nvSpPr>
          <p:cNvPr id="99" name="Shape 96"/>
          <p:cNvSpPr/>
          <p:nvPr/>
        </p:nvSpPr>
        <p:spPr>
          <a:xfrm>
            <a:off x="8321040" y="523036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8321040" y="5230368"/>
            <a:ext cx="2404744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835640" y="5175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0.9924</a:t>
            </a:r>
            <a:endParaRPr lang="en-US" sz="840" dirty="0"/>
          </a:p>
        </p:txBody>
      </p:sp>
      <p:sp>
        <p:nvSpPr>
          <p:cNvPr id="102" name="Text 99"/>
          <p:cNvSpPr/>
          <p:nvPr/>
        </p:nvSpPr>
        <p:spPr>
          <a:xfrm>
            <a:off x="841248" y="58338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B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 F1-score: Decision Tree d=6 · Mejor AUC-ROC: SVM RBF</a:t>
            </a:r>
            <a:endParaRPr lang="en-US" sz="1500" dirty="0"/>
          </a:p>
        </p:txBody>
      </p:sp>
      <p:sp>
        <p:nvSpPr>
          <p:cNvPr id="103" name="Text 100"/>
          <p:cNvSpPr/>
          <p:nvPr/>
        </p:nvSpPr>
        <p:spPr>
          <a:xfrm>
            <a:off x="841248" y="612648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técnica: el F1 de la clase positiva es alto por el fuerte predominio de empleados con overtime; por eso AUC-ROC y matriz de confusión son esenciales.</a:t>
            </a:r>
            <a:endParaRPr lang="en-US" sz="930" dirty="0"/>
          </a:p>
        </p:txBody>
      </p:sp>
      <p:sp>
        <p:nvSpPr>
          <p:cNvPr id="104" name="Shape 10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106" name="Text 103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7/12</a:t>
            </a:r>
            <a:endParaRPr lang="en-US" sz="750" dirty="0"/>
          </a:p>
        </p:txBody>
      </p:sp>
      <p:sp>
        <p:nvSpPr>
          <p:cNvPr id="107" name="Text 104">
            <a:hlinkClick r:id="rId4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INTERPRETACIÓN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confusión y variables relevantes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conclusiones solo con accuracy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841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confusión · Decision Tree d=6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94560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 rot="16200000">
            <a:off x="502920" y="2441448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" y="1572768"/>
            <a:ext cx="1170432" cy="621792"/>
          </a:xfrm>
          <a:prstGeom prst="rect">
            <a:avLst/>
          </a:prstGeom>
          <a:solidFill>
            <a:srgbClr val="020913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084832" y="1572768"/>
            <a:ext cx="1170432" cy="621792"/>
          </a:xfrm>
          <a:prstGeom prst="rect">
            <a:avLst/>
          </a:prstGeom>
          <a:solidFill>
            <a:srgbClr val="06192F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overtime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55264" y="1572768"/>
            <a:ext cx="1170432" cy="621792"/>
          </a:xfrm>
          <a:prstGeom prst="rect">
            <a:avLst/>
          </a:prstGeom>
          <a:solidFill>
            <a:srgbClr val="06192F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overtime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2194560"/>
            <a:ext cx="1170432" cy="621792"/>
          </a:xfrm>
          <a:prstGeom prst="rect">
            <a:avLst/>
          </a:prstGeom>
          <a:solidFill>
            <a:srgbClr val="06192F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overtime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14400" y="2816352"/>
            <a:ext cx="1170432" cy="621792"/>
          </a:xfrm>
          <a:prstGeom prst="rect">
            <a:avLst/>
          </a:prstGeom>
          <a:solidFill>
            <a:srgbClr val="06192F">
              <a:alpha val="92000"/>
            </a:srgbClr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overtime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084832" y="2194560"/>
            <a:ext cx="1170432" cy="621792"/>
          </a:xfrm>
          <a:prstGeom prst="rect">
            <a:avLst/>
          </a:prstGeom>
          <a:solidFill>
            <a:srgbClr val="1E3A5F">
              <a:alpha val="9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255264" y="2194560"/>
            <a:ext cx="1170432" cy="621792"/>
          </a:xfrm>
          <a:prstGeom prst="rect">
            <a:avLst/>
          </a:prstGeom>
          <a:solidFill>
            <a:srgbClr val="7F1D1D">
              <a:alpha val="9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084832" y="2816352"/>
            <a:ext cx="1170432" cy="621792"/>
          </a:xfrm>
          <a:prstGeom prst="rect">
            <a:avLst/>
          </a:prstGeom>
          <a:solidFill>
            <a:srgbClr val="1E3A5F">
              <a:alpha val="9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255264" y="2816352"/>
            <a:ext cx="1170432" cy="621792"/>
          </a:xfrm>
          <a:prstGeom prst="rect">
            <a:avLst/>
          </a:prstGeom>
          <a:solidFill>
            <a:srgbClr val="065F46">
              <a:alpha val="9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7.954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77240" y="3703320"/>
            <a:ext cx="4983480" cy="1508760"/>
          </a:xfrm>
          <a:prstGeom prst="roundRect">
            <a:avLst>
              <a:gd name="adj" fmla="val 7273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E30613">
                <a:alpha val="6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6968" y="3813048"/>
            <a:ext cx="45720" cy="128930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3272" y="38496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crítica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33272" y="4206240"/>
            <a:ext cx="4617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umbral estándar, el modelo clasifica casi todos los casos como “con overtime”. El accuracy es alto porque la clase positiva representa el 98,08%. Para mejorar el análisis se recomienda macro-F1, balanced accuracy, class_weight=balanced o técnicas de remuestreo.</a:t>
            </a:r>
            <a:endParaRPr lang="en-US" sz="1050" dirty="0"/>
          </a:p>
        </p:txBody>
      </p:sp>
      <p:pic>
        <p:nvPicPr>
          <p:cNvPr id="24" name="Image 1" descr="/mnt/data/final_docx_unzip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20" y="1051560"/>
            <a:ext cx="4307840" cy="2423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0" dist="5000" dir="5400000" sy="-100000" algn="bl" rotWithShape="0"/>
          </a:effectLst>
        </p:spPr>
      </p:pic>
      <p:sp>
        <p:nvSpPr>
          <p:cNvPr id="25" name="Text 21"/>
          <p:cNvSpPr/>
          <p:nvPr/>
        </p:nvSpPr>
        <p:spPr>
          <a:xfrm>
            <a:off x="6263640" y="34747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Importancia de variables en Random Forest: predominio de variables salariales transformadas.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6172200" y="397764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81928" y="4087368"/>
            <a:ext cx="45720" cy="101498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28232" y="4123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técnico observado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428232" y="4480560"/>
            <a:ext cx="4572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como LogSalarioTotal pueden actuar como proxy de la respuesta, elevando el desempeño. El notebook debe documentar explícitamente qué variables se excluyen para evitar fuga de información.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8/12</a:t>
            </a:r>
            <a:endParaRPr lang="en-US" sz="750" dirty="0"/>
          </a:p>
        </p:txBody>
      </p:sp>
      <p:sp>
        <p:nvSpPr>
          <p:cNvPr id="33" name="Text 29">
            <a:hlinkClick r:id="rId5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REGRESIÓN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Predicción de SalarioTotal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de regresores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1051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RMSE · menor es mejor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4904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 Lineal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743200" y="1527048"/>
            <a:ext cx="26517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1527048"/>
            <a:ext cx="2559065" cy="109728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1472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$723.8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777240" y="207340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α=10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743200" y="2109978"/>
            <a:ext cx="26517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0" y="2109978"/>
            <a:ext cx="2558958" cy="109728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05511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$723.8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777240" y="26563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d=8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2743200" y="2692908"/>
            <a:ext cx="26517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2692908"/>
            <a:ext cx="1082094" cy="109728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26380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$306.0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777240" y="323926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2743200" y="3275838"/>
            <a:ext cx="26517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0" y="3275838"/>
            <a:ext cx="194864" cy="109728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0" y="322097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$55.1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355080" y="10515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R² · mayor es mejor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55080" y="14904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 Lineal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8321040" y="152704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21040" y="1527048"/>
            <a:ext cx="1702997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835640" y="1472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0.7028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6355080" y="207340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α=10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8321040" y="210997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21040" y="2109978"/>
            <a:ext cx="1702997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835640" y="205511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0.7028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6355080" y="26563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d=8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8321040" y="269290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21040" y="2692908"/>
            <a:ext cx="2294490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835640" y="26380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0.9469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6355080" y="323926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8321040" y="3275838"/>
            <a:ext cx="2423160" cy="109728"/>
          </a:xfrm>
          <a:prstGeom prst="rect">
            <a:avLst/>
          </a:prstGeom>
          <a:solidFill>
            <a:srgbClr val="29465E">
              <a:alpha val="90000"/>
            </a:srgbClr>
          </a:solidFill>
          <a:ln w="12700">
            <a:solidFill>
              <a:srgbClr val="29465E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321040" y="3275838"/>
            <a:ext cx="2419041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835640" y="322097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0.9983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777240" y="388620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20C997">
                <a:alpha val="6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86968" y="3995928"/>
            <a:ext cx="45720" cy="110642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33272" y="40325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principal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033272" y="4389120"/>
            <a:ext cx="4709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Regressor fue el mejor modelo de regresión: R² = 0,9983 y RMSE = $55,11. El ensamble captura relaciones no lineales que los modelos lineales no explican completamente.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172200" y="388620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81928" y="3995928"/>
            <a:ext cx="45720" cy="110642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28232" y="40325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428232" y="4389120"/>
            <a:ext cx="4709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modelos lineales explican cerca del 70% de la variabilidad. El árbol mejora sustancialmente, pero el ensamble logra el menor error y la mayor capacidad explicativa.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841248" y="5669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de métricas de regresión obtenidas desde el notebook final.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9/12</a:t>
            </a:r>
            <a:endParaRPr lang="en-US" sz="750" dirty="0"/>
          </a:p>
        </p:txBody>
      </p:sp>
      <p:sp>
        <p:nvSpPr>
          <p:cNvPr id="54" name="Text 51">
            <a:hlinkClick r:id="rId4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DOCUMENTACIÓN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Repositorio GitHub y entregables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</a:t>
            </a:r>
            <a:r>
              <a:rPr lang="en-US" sz="800" dirty="0" err="1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914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repositorio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1417320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0704" y="15361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📁 data/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14600" y="15361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Salarios_Cerveceria.csv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68680" y="2039112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2157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📁 notebooks/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514600" y="21579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Grupo12_A1_S3.ipynb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68680" y="2660904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27797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📁 results/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14600" y="27797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métricas, matrices, gráficos y tablas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68680" y="3282696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34015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📁 docs/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514600" y="340156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 técnico y presentación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8680" y="390448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📄 README.md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514600" y="40233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resumen, metodología, resultados y conclusiones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72200" y="1051560"/>
            <a:ext cx="4892040" cy="1554480"/>
          </a:xfrm>
          <a:prstGeom prst="roundRect">
            <a:avLst>
              <a:gd name="adj" fmla="val 705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20C997">
                <a:alpha val="6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81928" y="1161288"/>
            <a:ext cx="45720" cy="133502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28232" y="119786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ptos Display" pitchFamily="34" charset="0"/>
              </a:rPr>
              <a:t>Parámetros</a:t>
            </a: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ptos Display" pitchFamily="34" charset="0"/>
              </a:rPr>
              <a:t>requeridos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28232" y="1554480"/>
            <a:ext cx="4526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con visualizaciones · SVM con kernel justificado · Árbol con profundidad controlada · métricas comparativas · matrices de confusión · README profesional · conclusiones con limitaciones y mejoras.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72200" y="2971800"/>
            <a:ext cx="4892040" cy="1280160"/>
          </a:xfrm>
          <a:prstGeom prst="roundRect">
            <a:avLst>
              <a:gd name="adj" fmla="val 8571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81928" y="3081528"/>
            <a:ext cx="45720" cy="106070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28232" y="31181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README.md 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28232" y="3474720"/>
            <a:ext cx="4526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 del dataset, formulación de clasificación/regresión, preprocesamiento, modelos, resultados principales, limitaciones y cómo ejecutar el notebook.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</a:t>
            </a:r>
            <a:endParaRPr lang="en-US" sz="750" dirty="0"/>
          </a:p>
        </p:txBody>
      </p:sp>
      <p:sp>
        <p:nvSpPr>
          <p:cNvPr id="39" name="Text 36">
            <a:hlinkClick r:id="rId4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128016"/>
            <a:ext cx="54864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144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CIERRE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30352" y="3017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técnicas y mejoras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5400" y="2743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clave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9601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00C2FF">
                <a:alpha val="6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" y="1069848"/>
            <a:ext cx="45720" cy="101498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1064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Clasificación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33272" y="1463040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d=6 alcanzó el mejor F1-score y SVM RBF el mejor AUC-ROC. Sin embargo, el desbalance obliga a interpretar los resultados con métricas complementarias.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96012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20C997">
                <a:alpha val="6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81928" y="1069848"/>
            <a:ext cx="45720" cy="101498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11064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Regresión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28232" y="1463040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Regressor obtuvo el mejor desempeño global: R² = 0,9983 y RMSE = $55,11, evidenciando capacidad para capturar relaciones no lineales.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2542032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E30613">
                <a:alpha val="6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6968" y="2651760"/>
            <a:ext cx="45720" cy="101498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72" y="26883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Limitaciones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33272" y="3044952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variable objetivo TieneOvertime está derivada de HorasExtra y el dataset presenta desbalance severo. Deben evitarse proxies y fuga de información.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542032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06192F">
              <a:alpha val="90000"/>
            </a:srgbClr>
          </a:solidFill>
          <a:ln w="12700">
            <a:solidFill>
              <a:srgbClr val="F7B733">
                <a:alpha val="6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81928" y="2651760"/>
            <a:ext cx="45720" cy="1014984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8232" y="26883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Mejoras propuestas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28232" y="3044952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validación cruzada estratificada, class_weight=balanced, remuestreo, One-Hot Encoding y evaluación macro-F1/balanced accuracy.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05840" y="4663440"/>
            <a:ext cx="10149840" cy="685800"/>
          </a:xfrm>
          <a:prstGeom prst="roundRect">
            <a:avLst>
              <a:gd name="adj" fmla="val 16000"/>
            </a:avLst>
          </a:prstGeom>
          <a:solidFill>
            <a:srgbClr val="020913">
              <a:alpha val="85000"/>
            </a:srgbClr>
          </a:solidFill>
          <a:ln w="12700">
            <a:solidFill>
              <a:srgbClr val="00C2FF">
                <a:alpha val="6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485546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Mensaje final: los modelos logran alto desempeño, pero la calidad de la evaluación depende de controlar el desbalance, la fuga de información y la coherencia entre notebook, informe y repositorio.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0913">
              <a:alpha val="80000"/>
            </a:srgbClr>
          </a:solidFill>
          <a:ln w="12700">
            <a:solidFill>
              <a:srgbClr val="02091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60196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A1.S3 · Aprendizaje Automático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356848" y="66019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11/12</a:t>
            </a:r>
            <a:endParaRPr lang="en-US" sz="750" dirty="0"/>
          </a:p>
        </p:txBody>
      </p:sp>
      <p:sp>
        <p:nvSpPr>
          <p:cNvPr id="29" name="Text 26">
            <a:hlinkClick r:id="rId4" action="ppaction://hlinksldjump"/>
          </p:cNvPr>
          <p:cNvSpPr/>
          <p:nvPr/>
        </p:nvSpPr>
        <p:spPr>
          <a:xfrm>
            <a:off x="10561320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u="sng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731520"/>
            <a:ext cx="73152" cy="49377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1371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60120" y="20299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B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12 · </a:t>
            </a:r>
            <a:r>
              <a:rPr lang="en-US" sz="1500" dirty="0" err="1">
                <a:solidFill>
                  <a:srgbClr val="F7B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</a:t>
            </a:r>
            <a:r>
              <a:rPr lang="en-US" sz="1500" dirty="0">
                <a:solidFill>
                  <a:srgbClr val="F7B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 Semana 3 · Aprendizaje Automático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" y="24505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supervisados aplicados al dataset de salarios Cervecería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0" y="118872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020913">
              <a:alpha val="80000"/>
            </a:srgbClr>
          </a:solidFill>
          <a:ln w="12700">
            <a:solidFill>
              <a:srgbClr val="F7B733">
                <a:alpha val="90000"/>
              </a:srgbClr>
            </a:solidFill>
            <a:prstDash val="solid"/>
          </a:ln>
        </p:spPr>
      </p:sp>
      <p:pic>
        <p:nvPicPr>
          <p:cNvPr id="8" name="Image 1" descr="/mnt/data/image3_alph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26" y="1490472"/>
            <a:ext cx="2209747" cy="822960"/>
          </a:xfrm>
          <a:prstGeom prst="rect">
            <a:avLst/>
          </a:prstGeom>
        </p:spPr>
      </p:pic>
      <p:pic>
        <p:nvPicPr>
          <p:cNvPr id="9" name="Image 2" descr="/mnt/data/image2_alpha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156" y="2468880"/>
            <a:ext cx="1277689" cy="1005840"/>
          </a:xfrm>
          <a:prstGeom prst="rect">
            <a:avLst/>
          </a:prstGeom>
        </p:spPr>
      </p:pic>
      <p:sp>
        <p:nvSpPr>
          <p:cNvPr id="10" name="Shape 5">
            <a:hlinkClick r:id="rId6" action="ppaction://hlinksldjump"/>
          </p:cNvPr>
          <p:cNvSpPr/>
          <p:nvPr/>
        </p:nvSpPr>
        <p:spPr>
          <a:xfrm>
            <a:off x="960120" y="4937760"/>
            <a:ext cx="1828800" cy="402336"/>
          </a:xfrm>
          <a:prstGeom prst="roundRect">
            <a:avLst>
              <a:gd name="adj" fmla="val 22727"/>
            </a:avLst>
          </a:prstGeom>
          <a:solidFill>
            <a:srgbClr val="020913">
              <a:alpha val="88000"/>
            </a:srgbClr>
          </a:solidFill>
          <a:ln w="15240">
            <a:solidFill>
              <a:srgbClr val="00C2FF">
                <a:alpha val="90000"/>
              </a:srgbClr>
            </a:solidFill>
            <a:prstDash val="solid"/>
          </a:ln>
        </p:spPr>
      </p:sp>
      <p:sp>
        <p:nvSpPr>
          <p:cNvPr id="11" name="Text 6">
            <a:hlinkClick r:id="rId6" action="ppaction://hlinksldjump"/>
          </p:cNvPr>
          <p:cNvSpPr/>
          <p:nvPr/>
        </p:nvSpPr>
        <p:spPr>
          <a:xfrm>
            <a:off x="1051560" y="5010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Volver al índice</a:t>
            </a:r>
            <a:endParaRPr lang="en-US" sz="1100" dirty="0"/>
          </a:p>
        </p:txBody>
      </p:sp>
      <p:sp>
        <p:nvSpPr>
          <p:cNvPr id="12" name="Shape 7">
            <a:hlinkClick r:id="rId7" action="ppaction://hlinksldjump"/>
          </p:cNvPr>
          <p:cNvSpPr/>
          <p:nvPr/>
        </p:nvSpPr>
        <p:spPr>
          <a:xfrm>
            <a:off x="3017520" y="4937760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020913">
              <a:alpha val="88000"/>
            </a:srgbClr>
          </a:solidFill>
          <a:ln w="15240">
            <a:solidFill>
              <a:srgbClr val="F7B733">
                <a:alpha val="90000"/>
              </a:srgbClr>
            </a:solidFill>
            <a:prstDash val="solid"/>
          </a:ln>
        </p:spPr>
      </p:sp>
      <p:sp>
        <p:nvSpPr>
          <p:cNvPr id="13" name="Text 8">
            <a:hlinkClick r:id="rId7" action="ppaction://hlinksldjump"/>
          </p:cNvPr>
          <p:cNvSpPr/>
          <p:nvPr/>
        </p:nvSpPr>
        <p:spPr>
          <a:xfrm>
            <a:off x="3108960" y="50109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</a:t>
            </a:r>
            <a:endParaRPr lang="en-US" sz="1100" dirty="0"/>
          </a:p>
        </p:txBody>
      </p:sp>
      <p:sp>
        <p:nvSpPr>
          <p:cNvPr id="14" name="Shape 9">
            <a:hlinkClick r:id="rId8" action="ppaction://hlinksldjump"/>
          </p:cNvPr>
          <p:cNvSpPr/>
          <p:nvPr/>
        </p:nvSpPr>
        <p:spPr>
          <a:xfrm>
            <a:off x="4663440" y="493776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020913">
              <a:alpha val="88000"/>
            </a:srgbClr>
          </a:solidFill>
          <a:ln w="15240">
            <a:solidFill>
              <a:srgbClr val="20C997">
                <a:alpha val="90000"/>
              </a:srgbClr>
            </a:solidFill>
            <a:prstDash val="solid"/>
          </a:ln>
        </p:spPr>
      </p:sp>
      <p:sp>
        <p:nvSpPr>
          <p:cNvPr id="15" name="Text 10">
            <a:hlinkClick r:id="rId8" action="ppaction://hlinksldjump"/>
          </p:cNvPr>
          <p:cNvSpPr/>
          <p:nvPr/>
        </p:nvSpPr>
        <p:spPr>
          <a:xfrm>
            <a:off x="4754880" y="5010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1725</Words>
  <Application>Microsoft Office PowerPoint</Application>
  <PresentationFormat>Panorámica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UEES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supervisados aplicados al dataset de salarios Cervecería</dc:title>
  <dc:subject>A1.S3 Modelos supervisados aplicados al dataset de salarios Cervecería</dc:subject>
  <dc:creator>Grupo 12</dc:creator>
  <cp:lastModifiedBy>Schubert Lombeida</cp:lastModifiedBy>
  <cp:revision>8</cp:revision>
  <dcterms:created xsi:type="dcterms:W3CDTF">2026-05-03T22:32:27Z</dcterms:created>
  <dcterms:modified xsi:type="dcterms:W3CDTF">2026-05-04T00:31:40Z</dcterms:modified>
</cp:coreProperties>
</file>